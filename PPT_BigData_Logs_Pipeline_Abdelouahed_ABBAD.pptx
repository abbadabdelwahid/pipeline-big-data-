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T Interphases" charset="1" panose="02000503020000020004"/>
      <p:regular r:id="rId20"/>
    </p:embeddedFont>
    <p:embeddedFont>
      <p:font typeface="TT Interphases Bold" charset="1" panose="0200080306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88068" y="1028700"/>
            <a:ext cx="7571232" cy="8229600"/>
          </a:xfrm>
          <a:custGeom>
            <a:avLst/>
            <a:gdLst/>
            <a:ahLst/>
            <a:cxnLst/>
            <a:rect r="r" b="b" t="t" l="l"/>
            <a:pathLst>
              <a:path h="8229600" w="7571232">
                <a:moveTo>
                  <a:pt x="0" y="0"/>
                </a:moveTo>
                <a:lnTo>
                  <a:pt x="7571232" y="0"/>
                </a:lnTo>
                <a:lnTo>
                  <a:pt x="757123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3955" y="3179738"/>
            <a:ext cx="8530045" cy="196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7"/>
              </a:lnSpc>
            </a:pPr>
            <a:r>
              <a:rPr lang="en-US" sz="5778" spc="-28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Conception e</a:t>
            </a:r>
            <a:r>
              <a:rPr lang="en-US" sz="5778" spc="-28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 réalisation d’un pipeline Big Data de traitement de logs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600950" y="2227238"/>
            <a:ext cx="1543050" cy="1543050"/>
          </a:xfrm>
          <a:custGeom>
            <a:avLst/>
            <a:gdLst/>
            <a:ahLst/>
            <a:cxnLst/>
            <a:rect r="r" b="b" t="t" l="l"/>
            <a:pathLst>
              <a:path h="1543050" w="1543050">
                <a:moveTo>
                  <a:pt x="0" y="0"/>
                </a:moveTo>
                <a:lnTo>
                  <a:pt x="1543050" y="0"/>
                </a:lnTo>
                <a:lnTo>
                  <a:pt x="154305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3545" y="5295794"/>
            <a:ext cx="6857405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-9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Kafka → Spark (Streaming + Batch) → HDFS → Exports CSV → Power BI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155483"/>
            <a:ext cx="3547467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10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Réalisé par : Abdelouahed ABBAD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102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Encadrant : M. Hassan Badir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035449" y="1028700"/>
            <a:ext cx="1223851" cy="847795"/>
          </a:xfrm>
          <a:custGeom>
            <a:avLst/>
            <a:gdLst/>
            <a:ahLst/>
            <a:cxnLst/>
            <a:rect r="r" b="b" t="t" l="l"/>
            <a:pathLst>
              <a:path h="847795" w="1223851">
                <a:moveTo>
                  <a:pt x="1223851" y="0"/>
                </a:moveTo>
                <a:lnTo>
                  <a:pt x="0" y="0"/>
                </a:lnTo>
                <a:lnTo>
                  <a:pt x="0" y="847795"/>
                </a:lnTo>
                <a:lnTo>
                  <a:pt x="1223851" y="847795"/>
                </a:lnTo>
                <a:lnTo>
                  <a:pt x="12238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1067806"/>
            <a:ext cx="6234058" cy="2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Objectifs du projet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2825318"/>
            <a:ext cx="7434401" cy="4636363"/>
          </a:xfrm>
          <a:custGeom>
            <a:avLst/>
            <a:gdLst/>
            <a:ahLst/>
            <a:cxnLst/>
            <a:rect r="r" b="b" t="t" l="l"/>
            <a:pathLst>
              <a:path h="4636363" w="7434401">
                <a:moveTo>
                  <a:pt x="0" y="0"/>
                </a:moveTo>
                <a:lnTo>
                  <a:pt x="7434401" y="0"/>
                </a:lnTo>
                <a:lnTo>
                  <a:pt x="7434401" y="4636364"/>
                </a:lnTo>
                <a:lnTo>
                  <a:pt x="0" y="46363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3910308"/>
            <a:ext cx="8538925" cy="2720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1628" indent="-420814" lvl="1">
              <a:lnSpc>
                <a:spcPts val="5457"/>
              </a:lnSpc>
              <a:buFont typeface="Arial"/>
              <a:buChar char="•"/>
            </a:pPr>
            <a:r>
              <a:rPr lang="en-US" sz="3898" spc="-19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Concevoir un pipeline Big Data complet</a:t>
            </a:r>
          </a:p>
          <a:p>
            <a:pPr algn="l" marL="841628" indent="-420814" lvl="1">
              <a:lnSpc>
                <a:spcPts val="5457"/>
              </a:lnSpc>
              <a:buFont typeface="Arial"/>
              <a:buChar char="•"/>
            </a:pPr>
            <a:r>
              <a:rPr lang="en-US" sz="3898" spc="-19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Traiter des données en temps réel</a:t>
            </a:r>
          </a:p>
          <a:p>
            <a:pPr algn="l" marL="841628" indent="-420814" lvl="1">
              <a:lnSpc>
                <a:spcPts val="5457"/>
              </a:lnSpc>
              <a:buFont typeface="Arial"/>
              <a:buChar char="•"/>
            </a:pPr>
            <a:r>
              <a:rPr lang="en-US" sz="3898" spc="-19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Réaliser des analyses batch</a:t>
            </a:r>
          </a:p>
          <a:p>
            <a:pPr algn="l" marL="841628" indent="-420814" lvl="1">
              <a:lnSpc>
                <a:spcPts val="5457"/>
              </a:lnSpc>
              <a:buFont typeface="Arial"/>
              <a:buChar char="•"/>
            </a:pPr>
            <a:r>
              <a:rPr lang="en-US" sz="3898" spc="-19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Visualiser les résultats avec Power BI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6074" y="1329890"/>
            <a:ext cx="13302813" cy="8563686"/>
          </a:xfrm>
          <a:custGeom>
            <a:avLst/>
            <a:gdLst/>
            <a:ahLst/>
            <a:cxnLst/>
            <a:rect r="r" b="b" t="t" l="l"/>
            <a:pathLst>
              <a:path h="8563686" w="13302813">
                <a:moveTo>
                  <a:pt x="0" y="0"/>
                </a:moveTo>
                <a:lnTo>
                  <a:pt x="13302813" y="0"/>
                </a:lnTo>
                <a:lnTo>
                  <a:pt x="13302813" y="8563685"/>
                </a:lnTo>
                <a:lnTo>
                  <a:pt x="0" y="8563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1718" y="451665"/>
            <a:ext cx="15043456" cy="105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Architecture globale du pipeline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14738" y="1745543"/>
            <a:ext cx="10858523" cy="7763844"/>
          </a:xfrm>
          <a:custGeom>
            <a:avLst/>
            <a:gdLst/>
            <a:ahLst/>
            <a:cxnLst/>
            <a:rect r="r" b="b" t="t" l="l"/>
            <a:pathLst>
              <a:path h="7763844" w="10858523">
                <a:moveTo>
                  <a:pt x="0" y="0"/>
                </a:moveTo>
                <a:lnTo>
                  <a:pt x="10858524" y="0"/>
                </a:lnTo>
                <a:lnTo>
                  <a:pt x="10858524" y="7763844"/>
                </a:lnTo>
                <a:lnTo>
                  <a:pt x="0" y="7763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1718" y="451665"/>
            <a:ext cx="16215959" cy="2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Déploiement avec Docker Compose</a:t>
            </a:r>
          </a:p>
          <a:p>
            <a:pPr algn="l">
              <a:lnSpc>
                <a:spcPts val="765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8245" y="703950"/>
            <a:ext cx="13701256" cy="105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Ingestion des données (Kafka)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65019" y="3466877"/>
            <a:ext cx="7434401" cy="4636363"/>
          </a:xfrm>
          <a:custGeom>
            <a:avLst/>
            <a:gdLst/>
            <a:ahLst/>
            <a:cxnLst/>
            <a:rect r="r" b="b" t="t" l="l"/>
            <a:pathLst>
              <a:path h="4636363" w="7434401">
                <a:moveTo>
                  <a:pt x="0" y="0"/>
                </a:moveTo>
                <a:lnTo>
                  <a:pt x="7434402" y="0"/>
                </a:lnTo>
                <a:lnTo>
                  <a:pt x="7434402" y="4636363"/>
                </a:lnTo>
                <a:lnTo>
                  <a:pt x="0" y="4636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220792" y="4046206"/>
            <a:ext cx="10261997" cy="3043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52310" indent="-626155" lvl="1">
              <a:lnSpc>
                <a:spcPts val="8120"/>
              </a:lnSpc>
              <a:buFont typeface="Arial"/>
              <a:buChar char="•"/>
            </a:pP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Génération de logs via Node.js</a:t>
            </a:r>
          </a:p>
          <a:p>
            <a:pPr algn="l" marL="1252310" indent="-626155" lvl="1">
              <a:lnSpc>
                <a:spcPts val="8120"/>
              </a:lnSpc>
              <a:buFont typeface="Arial"/>
              <a:buChar char="•"/>
            </a:pP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Publication dans un topic Kafka</a:t>
            </a:r>
          </a:p>
          <a:p>
            <a:pPr algn="l" marL="1252310" indent="-626155" lvl="1">
              <a:lnSpc>
                <a:spcPts val="8120"/>
              </a:lnSpc>
              <a:buFont typeface="Arial"/>
              <a:buChar char="•"/>
            </a:pP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Données envoyées en continu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8245" y="703950"/>
            <a:ext cx="13701256" cy="202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Traitement temps réel (Spark Streaming)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65019" y="3466877"/>
            <a:ext cx="7434401" cy="4636363"/>
          </a:xfrm>
          <a:custGeom>
            <a:avLst/>
            <a:gdLst/>
            <a:ahLst/>
            <a:cxnLst/>
            <a:rect r="r" b="b" t="t" l="l"/>
            <a:pathLst>
              <a:path h="4636363" w="7434401">
                <a:moveTo>
                  <a:pt x="0" y="0"/>
                </a:moveTo>
                <a:lnTo>
                  <a:pt x="7434402" y="0"/>
                </a:lnTo>
                <a:lnTo>
                  <a:pt x="7434402" y="4636363"/>
                </a:lnTo>
                <a:lnTo>
                  <a:pt x="0" y="4636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582138" y="2153498"/>
            <a:ext cx="9677162" cy="6129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0"/>
              </a:lnSpc>
            </a:pPr>
          </a:p>
          <a:p>
            <a:pPr algn="l" marL="1252310" indent="-626155" lvl="1">
              <a:lnSpc>
                <a:spcPts val="8120"/>
              </a:lnSpc>
              <a:buFont typeface="Arial"/>
              <a:buChar char="•"/>
            </a:pP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Lecture depuis Kafka</a:t>
            </a:r>
          </a:p>
          <a:p>
            <a:pPr algn="l" marL="1252310" indent="-626155" lvl="1">
              <a:lnSpc>
                <a:spcPts val="8120"/>
              </a:lnSpc>
              <a:buFont typeface="Arial"/>
              <a:buChar char="•"/>
            </a:pP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Parsing du JSON</a:t>
            </a:r>
          </a:p>
          <a:p>
            <a:pPr algn="l" marL="1252310" indent="-626155" lvl="1">
              <a:lnSpc>
                <a:spcPts val="8120"/>
              </a:lnSpc>
              <a:buFont typeface="Arial"/>
              <a:buChar char="•"/>
            </a:pP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Enrichissement (date, heure)</a:t>
            </a:r>
          </a:p>
          <a:p>
            <a:pPr algn="l" marL="1252310" indent="-626155" lvl="1">
              <a:lnSpc>
                <a:spcPts val="8120"/>
              </a:lnSpc>
              <a:buFont typeface="Arial"/>
              <a:buChar char="•"/>
            </a:pP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Écriture continue dans HDFS</a:t>
            </a:r>
          </a:p>
          <a:p>
            <a:pPr algn="l">
              <a:lnSpc>
                <a:spcPts val="81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88646" y="2629108"/>
            <a:ext cx="10710708" cy="5902866"/>
          </a:xfrm>
          <a:custGeom>
            <a:avLst/>
            <a:gdLst/>
            <a:ahLst/>
            <a:cxnLst/>
            <a:rect r="r" b="b" t="t" l="l"/>
            <a:pathLst>
              <a:path h="5902866" w="10710708">
                <a:moveTo>
                  <a:pt x="0" y="0"/>
                </a:moveTo>
                <a:lnTo>
                  <a:pt x="10710708" y="0"/>
                </a:lnTo>
                <a:lnTo>
                  <a:pt x="10710708" y="5902867"/>
                </a:lnTo>
                <a:lnTo>
                  <a:pt x="0" y="5902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07606" y="895350"/>
            <a:ext cx="7072789" cy="113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sz="6600" spc="-323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Stockage dans HDFS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8245" y="703950"/>
            <a:ext cx="13701256" cy="105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Analyse batch avec Spark SQL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65019" y="3466877"/>
            <a:ext cx="7434401" cy="4636363"/>
          </a:xfrm>
          <a:custGeom>
            <a:avLst/>
            <a:gdLst/>
            <a:ahLst/>
            <a:cxnLst/>
            <a:rect r="r" b="b" t="t" l="l"/>
            <a:pathLst>
              <a:path h="4636363" w="7434401">
                <a:moveTo>
                  <a:pt x="0" y="0"/>
                </a:moveTo>
                <a:lnTo>
                  <a:pt x="7434402" y="0"/>
                </a:lnTo>
                <a:lnTo>
                  <a:pt x="7434402" y="4636363"/>
                </a:lnTo>
                <a:lnTo>
                  <a:pt x="0" y="4636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53625" y="3362102"/>
            <a:ext cx="9205675" cy="407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52310" indent="-626155" lvl="1">
              <a:lnSpc>
                <a:spcPts val="8120"/>
              </a:lnSpc>
              <a:buFont typeface="Arial"/>
              <a:buChar char="•"/>
            </a:pP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Lecture depuis 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HDFS</a:t>
            </a:r>
          </a:p>
          <a:p>
            <a:pPr algn="l" marL="1252310" indent="-626155" lvl="1">
              <a:lnSpc>
                <a:spcPts val="8120"/>
              </a:lnSpc>
              <a:buFont typeface="Arial"/>
              <a:buChar char="•"/>
            </a:pP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éat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 de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ta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bl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logiq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ue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</a:t>
            </a:r>
          </a:p>
          <a:p>
            <a:pPr algn="l" marL="1252310" indent="-626155" lvl="1">
              <a:lnSpc>
                <a:spcPts val="8120"/>
              </a:lnSpc>
              <a:buFont typeface="Arial"/>
              <a:buChar char="•"/>
            </a:pP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Cal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 d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ind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ic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teur</a:t>
            </a:r>
            <a:r>
              <a:rPr lang="en-US" sz="5800" spc="-284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</a:t>
            </a:r>
          </a:p>
          <a:p>
            <a:pPr algn="l">
              <a:lnSpc>
                <a:spcPts val="812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31919" y="2410203"/>
            <a:ext cx="8397806" cy="5180829"/>
          </a:xfrm>
          <a:custGeom>
            <a:avLst/>
            <a:gdLst/>
            <a:ahLst/>
            <a:cxnLst/>
            <a:rect r="r" b="b" t="t" l="l"/>
            <a:pathLst>
              <a:path h="5180829" w="8397806">
                <a:moveTo>
                  <a:pt x="0" y="0"/>
                </a:moveTo>
                <a:lnTo>
                  <a:pt x="8397806" y="0"/>
                </a:lnTo>
                <a:lnTo>
                  <a:pt x="8397806" y="5180829"/>
                </a:lnTo>
                <a:lnTo>
                  <a:pt x="0" y="5180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15031" y="2267321"/>
            <a:ext cx="5223951" cy="5466594"/>
          </a:xfrm>
          <a:custGeom>
            <a:avLst/>
            <a:gdLst/>
            <a:ahLst/>
            <a:cxnLst/>
            <a:rect r="r" b="b" t="t" l="l"/>
            <a:pathLst>
              <a:path h="5466594" w="5223951">
                <a:moveTo>
                  <a:pt x="0" y="0"/>
                </a:moveTo>
                <a:lnTo>
                  <a:pt x="5223951" y="0"/>
                </a:lnTo>
                <a:lnTo>
                  <a:pt x="5223951" y="5466594"/>
                </a:lnTo>
                <a:lnTo>
                  <a:pt x="0" y="5466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42873" y="962025"/>
            <a:ext cx="1433607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Résultats Spark SQL, erreurs par service et temps de réponse moyen par endpoint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98075" y="4081778"/>
            <a:ext cx="9091851" cy="1061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9"/>
              </a:lnSpc>
              <a:spcBef>
                <a:spcPct val="0"/>
              </a:spcBef>
            </a:pPr>
            <a:r>
              <a:rPr lang="en-US" b="true" sz="6199" spc="-30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Vi</a:t>
            </a:r>
            <a:r>
              <a:rPr lang="en-US" b="true" sz="6199" spc="-303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sualisation avec Power BI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0185" y="1723156"/>
            <a:ext cx="9147631" cy="5209067"/>
          </a:xfrm>
          <a:custGeom>
            <a:avLst/>
            <a:gdLst/>
            <a:ahLst/>
            <a:cxnLst/>
            <a:rect r="r" b="b" t="t" l="l"/>
            <a:pathLst>
              <a:path h="5209067" w="9147631">
                <a:moveTo>
                  <a:pt x="0" y="0"/>
                </a:moveTo>
                <a:lnTo>
                  <a:pt x="9147630" y="0"/>
                </a:lnTo>
                <a:lnTo>
                  <a:pt x="9147630" y="5209067"/>
                </a:lnTo>
                <a:lnTo>
                  <a:pt x="0" y="5209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6152" y="7594620"/>
            <a:ext cx="1509569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-14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Résultats Spark SQL – Nombre d’erreurs (level=ERROR) par service et latence moyenne par endpoint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96246" y="1680156"/>
            <a:ext cx="9895508" cy="6260424"/>
          </a:xfrm>
          <a:custGeom>
            <a:avLst/>
            <a:gdLst/>
            <a:ahLst/>
            <a:cxnLst/>
            <a:rect r="r" b="b" t="t" l="l"/>
            <a:pathLst>
              <a:path h="6260424" w="9895508">
                <a:moveTo>
                  <a:pt x="0" y="0"/>
                </a:moveTo>
                <a:lnTo>
                  <a:pt x="9895508" y="0"/>
                </a:lnTo>
                <a:lnTo>
                  <a:pt x="9895508" y="6260423"/>
                </a:lnTo>
                <a:lnTo>
                  <a:pt x="0" y="6260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9028" y="7873904"/>
            <a:ext cx="1382994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-14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Résultats Spark SQL – Répartition des codes HTTP (statusCode) et volume de logs par heure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162793"/>
            <a:ext cx="11301259" cy="5961414"/>
          </a:xfrm>
          <a:custGeom>
            <a:avLst/>
            <a:gdLst/>
            <a:ahLst/>
            <a:cxnLst/>
            <a:rect r="r" b="b" t="t" l="l"/>
            <a:pathLst>
              <a:path h="5961414" w="11301259">
                <a:moveTo>
                  <a:pt x="0" y="0"/>
                </a:moveTo>
                <a:lnTo>
                  <a:pt x="11301258" y="0"/>
                </a:lnTo>
                <a:lnTo>
                  <a:pt x="11301258" y="5961414"/>
                </a:lnTo>
                <a:lnTo>
                  <a:pt x="0" y="59614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6268" y="8357783"/>
            <a:ext cx="1705546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spc="-137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Aperçu des logs enrichis (DataFrame) après traitement Spark (service, level, endpoint, statusCode, responseTimeMs, host)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99665" y="1028700"/>
            <a:ext cx="8259635" cy="8229600"/>
          </a:xfrm>
          <a:custGeom>
            <a:avLst/>
            <a:gdLst/>
            <a:ahLst/>
            <a:cxnLst/>
            <a:rect r="r" b="b" t="t" l="l"/>
            <a:pathLst>
              <a:path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00357"/>
            <a:ext cx="8332616" cy="174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24"/>
              </a:lnSpc>
            </a:pPr>
            <a:r>
              <a:rPr lang="en-US" sz="14395" spc="-705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Thank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9029700"/>
            <a:ext cx="228600" cy="228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984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27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DAG8dqLse50</dc:identifier>
  <dcterms:modified xsi:type="dcterms:W3CDTF">2011-08-01T06:04:30Z</dcterms:modified>
  <cp:revision>1</cp:revision>
  <dc:title>Green and White Simple Illustrative Data Analytics Presentation</dc:title>
</cp:coreProperties>
</file>